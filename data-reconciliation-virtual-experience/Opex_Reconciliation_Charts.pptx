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F3864"/>
                </a:solidFill>
                <a:latin typeface="Arial"/>
              </a:rPr>
              <a:t>Company Code 2000: Cloud vs Legacy Ending Balance (AUD)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 System (New)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602000</c:v>
                  </c:pt>
                  <c:pt idx="1">
                    <c:v>602003</c:v>
                  </c:pt>
                  <c:pt idx="2">
                    <c:v>602004</c:v>
                  </c:pt>
                  <c:pt idx="3">
                    <c:v>602005</c:v>
                  </c:pt>
                  <c:pt idx="4">
                    <c:v>602010</c:v>
                  </c:pt>
                  <c:pt idx="5">
                    <c:v>602020</c:v>
                  </c:pt>
                  <c:pt idx="6">
                    <c:v>602030</c:v>
                  </c:pt>
                  <c:pt idx="7">
                    <c:v>602070</c:v>
                  </c:pt>
                  <c:pt idx="8">
                    <c:v>602072</c:v>
                  </c:pt>
                  <c:pt idx="9">
                    <c:v>603000</c:v>
                  </c:pt>
                  <c:pt idx="10">
                    <c:v>910003</c:v>
                  </c:pt>
                  <c:pt idx="11">
                    <c:v>604040</c:v>
                  </c:pt>
                  <c:pt idx="12">
                    <c:v>910001</c:v>
                  </c:pt>
                  <c:pt idx="13">
                    <c:v>604020</c:v>
                  </c:pt>
                  <c:pt idx="14">
                    <c:v>604010</c:v>
                  </c:pt>
                  <c:pt idx="15">
                    <c:v>608020</c:v>
                  </c:pt>
                  <c:pt idx="16">
                    <c:v>609004</c:v>
                  </c:pt>
                  <c:pt idx="17">
                    <c:v>609005</c:v>
                  </c:pt>
                  <c:pt idx="18">
                    <c:v>609006</c:v>
                  </c:pt>
                  <c:pt idx="19">
                    <c:v>609002</c:v>
                  </c:pt>
                  <c:pt idx="20">
                    <c:v>609003</c:v>
                  </c:pt>
                  <c:pt idx="21">
                    <c:v>609009</c:v>
                  </c:pt>
                  <c:pt idx="22">
                    <c:v>609010</c:v>
                  </c:pt>
                  <c:pt idx="23">
                    <c:v>607000</c:v>
                  </c:pt>
                  <c:pt idx="24">
                    <c:v>607010</c:v>
                  </c:pt>
                  <c:pt idx="25">
                    <c:v>604031</c:v>
                  </c:pt>
                  <c:pt idx="26">
                    <c:v>910002</c:v>
                  </c:pt>
                  <c:pt idx="27">
                    <c:v>910004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918278.42</c:v>
                </c:pt>
                <c:pt idx="1">
                  <c:v>631.22</c:v>
                </c:pt>
                <c:pt idx="2">
                  <c:v>2213.78</c:v>
                </c:pt>
                <c:pt idx="3">
                  <c:v>2923.84</c:v>
                </c:pt>
                <c:pt idx="4">
                  <c:v>105048.2</c:v>
                </c:pt>
                <c:pt idx="5">
                  <c:v>22159.25</c:v>
                </c:pt>
                <c:pt idx="6">
                  <c:v>34521.73</c:v>
                </c:pt>
                <c:pt idx="7">
                  <c:v>187.5</c:v>
                </c:pt>
                <c:pt idx="8">
                  <c:v>53794.86</c:v>
                </c:pt>
                <c:pt idx="9">
                  <c:v>101680.73</c:v>
                </c:pt>
                <c:pt idx="10">
                  <c:v>0</c:v>
                </c:pt>
                <c:pt idx="11">
                  <c:v>428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250</c:v>
                </c:pt>
                <c:pt idx="16">
                  <c:v>49677.72</c:v>
                </c:pt>
                <c:pt idx="17">
                  <c:v>6075.35</c:v>
                </c:pt>
                <c:pt idx="18">
                  <c:v>1261.6</c:v>
                </c:pt>
                <c:pt idx="19">
                  <c:v>4247.32</c:v>
                </c:pt>
                <c:pt idx="20">
                  <c:v>32609.81</c:v>
                </c:pt>
                <c:pt idx="21">
                  <c:v>-48.92</c:v>
                </c:pt>
                <c:pt idx="22">
                  <c:v>902.1</c:v>
                </c:pt>
                <c:pt idx="23">
                  <c:v>136863.01</c:v>
                </c:pt>
                <c:pt idx="24">
                  <c:v>441.47</c:v>
                </c:pt>
                <c:pt idx="25">
                  <c:v>1463879.12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Legacy System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Sheet1!$A$2:$A$29</c:f>
              <c:multiLvlStrCache>
                <c:ptCount val="28"/>
                <c:lvl>
                  <c:pt idx="0">
                    <c:v>602000</c:v>
                  </c:pt>
                  <c:pt idx="1">
                    <c:v>602003</c:v>
                  </c:pt>
                  <c:pt idx="2">
                    <c:v>602004</c:v>
                  </c:pt>
                  <c:pt idx="3">
                    <c:v>602005</c:v>
                  </c:pt>
                  <c:pt idx="4">
                    <c:v>602010</c:v>
                  </c:pt>
                  <c:pt idx="5">
                    <c:v>602020</c:v>
                  </c:pt>
                  <c:pt idx="6">
                    <c:v>602030</c:v>
                  </c:pt>
                  <c:pt idx="7">
                    <c:v>602070</c:v>
                  </c:pt>
                  <c:pt idx="8">
                    <c:v>602072</c:v>
                  </c:pt>
                  <c:pt idx="9">
                    <c:v>603000</c:v>
                  </c:pt>
                  <c:pt idx="10">
                    <c:v>910003</c:v>
                  </c:pt>
                  <c:pt idx="11">
                    <c:v>604040</c:v>
                  </c:pt>
                  <c:pt idx="12">
                    <c:v>910001</c:v>
                  </c:pt>
                  <c:pt idx="13">
                    <c:v>604020</c:v>
                  </c:pt>
                  <c:pt idx="14">
                    <c:v>604010</c:v>
                  </c:pt>
                  <c:pt idx="15">
                    <c:v>608020</c:v>
                  </c:pt>
                  <c:pt idx="16">
                    <c:v>609004</c:v>
                  </c:pt>
                  <c:pt idx="17">
                    <c:v>609005</c:v>
                  </c:pt>
                  <c:pt idx="18">
                    <c:v>609006</c:v>
                  </c:pt>
                  <c:pt idx="19">
                    <c:v>609002</c:v>
                  </c:pt>
                  <c:pt idx="20">
                    <c:v>609003</c:v>
                  </c:pt>
                  <c:pt idx="21">
                    <c:v>609009</c:v>
                  </c:pt>
                  <c:pt idx="22">
                    <c:v>609010</c:v>
                  </c:pt>
                  <c:pt idx="23">
                    <c:v>607000</c:v>
                  </c:pt>
                  <c:pt idx="24">
                    <c:v>607010</c:v>
                  </c:pt>
                  <c:pt idx="25">
                    <c:v>604031</c:v>
                  </c:pt>
                  <c:pt idx="26">
                    <c:v>910002</c:v>
                  </c:pt>
                  <c:pt idx="27">
                    <c:v>910004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918278.42</c:v>
                </c:pt>
                <c:pt idx="1">
                  <c:v>631.22</c:v>
                </c:pt>
                <c:pt idx="2">
                  <c:v>2213.78</c:v>
                </c:pt>
                <c:pt idx="3">
                  <c:v>2923.84</c:v>
                </c:pt>
                <c:pt idx="4">
                  <c:v>105048.2</c:v>
                </c:pt>
                <c:pt idx="5">
                  <c:v>22159.25</c:v>
                </c:pt>
                <c:pt idx="6">
                  <c:v>34521.73</c:v>
                </c:pt>
                <c:pt idx="7">
                  <c:v>187.5</c:v>
                </c:pt>
                <c:pt idx="8">
                  <c:v>53794.86</c:v>
                </c:pt>
                <c:pt idx="9">
                  <c:v>101680.73</c:v>
                </c:pt>
                <c:pt idx="10">
                  <c:v>0</c:v>
                </c:pt>
                <c:pt idx="11">
                  <c:v>428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250</c:v>
                </c:pt>
                <c:pt idx="16">
                  <c:v>49677.72</c:v>
                </c:pt>
                <c:pt idx="17">
                  <c:v>6075.35</c:v>
                </c:pt>
                <c:pt idx="18">
                  <c:v>1261.6</c:v>
                </c:pt>
                <c:pt idx="19">
                  <c:v>4247.32</c:v>
                </c:pt>
                <c:pt idx="20">
                  <c:v>32609.81</c:v>
                </c:pt>
                <c:pt idx="21">
                  <c:v>-48.92</c:v>
                </c:pt>
                <c:pt idx="22">
                  <c:v>902.1</c:v>
                </c:pt>
                <c:pt idx="23">
                  <c:v>136863.01</c:v>
                </c:pt>
                <c:pt idx="24">
                  <c:v>441.47</c:v>
                </c:pt>
                <c:pt idx="25">
                  <c:v>1463879.12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Ending Balance (AUD)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F3864"/>
                </a:solidFill>
                <a:latin typeface="Arial"/>
              </a:defRPr>
            </a:pPr>
            <a:r>
              <a:rPr sz="1600" b="0" i="0" u="none" strike="noStrike">
                <a:solidFill>
                  <a:srgbClr val="1F3864"/>
                </a:solidFill>
                <a:latin typeface="Arial"/>
              </a:rPr>
              <a:t>Company Code 3420: Cloud vs Legacy Ending Balance (AUD)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Cloud System (New)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601050</c:v>
                  </c:pt>
                  <c:pt idx="1">
                    <c:v>601051</c:v>
                  </c:pt>
                  <c:pt idx="2">
                    <c:v>601052</c:v>
                  </c:pt>
                  <c:pt idx="3">
                    <c:v>602000</c:v>
                  </c:pt>
                  <c:pt idx="4">
                    <c:v>602004</c:v>
                  </c:pt>
                  <c:pt idx="5">
                    <c:v>602010</c:v>
                  </c:pt>
                  <c:pt idx="6">
                    <c:v>602020</c:v>
                  </c:pt>
                  <c:pt idx="7">
                    <c:v>602030</c:v>
                  </c:pt>
                  <c:pt idx="8">
                    <c:v>602040</c:v>
                  </c:pt>
                  <c:pt idx="9">
                    <c:v>602050</c:v>
                  </c:pt>
                  <c:pt idx="10">
                    <c:v>602060</c:v>
                  </c:pt>
                  <c:pt idx="11">
                    <c:v>602070</c:v>
                  </c:pt>
                  <c:pt idx="12">
                    <c:v>602072</c:v>
                  </c:pt>
                  <c:pt idx="13">
                    <c:v>602080</c:v>
                  </c:pt>
                  <c:pt idx="14">
                    <c:v>603000</c:v>
                  </c:pt>
                  <c:pt idx="15">
                    <c:v>910003</c:v>
                  </c:pt>
                  <c:pt idx="16">
                    <c:v>604040</c:v>
                  </c:pt>
                  <c:pt idx="17">
                    <c:v>910001</c:v>
                  </c:pt>
                  <c:pt idx="18">
                    <c:v>604010</c:v>
                  </c:pt>
                  <c:pt idx="19">
                    <c:v>605000</c:v>
                  </c:pt>
                  <c:pt idx="20">
                    <c:v>605020</c:v>
                  </c:pt>
                  <c:pt idx="21">
                    <c:v>606030</c:v>
                  </c:pt>
                  <c:pt idx="22">
                    <c:v>608010</c:v>
                  </c:pt>
                  <c:pt idx="23">
                    <c:v>608020</c:v>
                  </c:pt>
                  <c:pt idx="24">
                    <c:v>608040</c:v>
                  </c:pt>
                  <c:pt idx="25">
                    <c:v>608000</c:v>
                  </c:pt>
                  <c:pt idx="26">
                    <c:v>609004</c:v>
                  </c:pt>
                  <c:pt idx="27">
                    <c:v>609002</c:v>
                  </c:pt>
                  <c:pt idx="28">
                    <c:v>609003</c:v>
                  </c:pt>
                  <c:pt idx="29">
                    <c:v>609009</c:v>
                  </c:pt>
                  <c:pt idx="30">
                    <c:v>609010</c:v>
                  </c:pt>
                  <c:pt idx="31">
                    <c:v>609012</c:v>
                  </c:pt>
                  <c:pt idx="32">
                    <c:v>610002</c:v>
                  </c:pt>
                  <c:pt idx="33">
                    <c:v>610005</c:v>
                  </c:pt>
                  <c:pt idx="34">
                    <c:v>607000</c:v>
                  </c:pt>
                  <c:pt idx="35">
                    <c:v>910004</c:v>
                  </c:pt>
                  <c:pt idx="36">
                    <c:v>607040</c:v>
                  </c:pt>
                </c:lvl>
              </c:multiLvlStrCache>
            </c:multiLvl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3913952.43</c:v>
                </c:pt>
                <c:pt idx="1">
                  <c:v>4454006.78</c:v>
                </c:pt>
                <c:pt idx="2">
                  <c:v>337728.04</c:v>
                </c:pt>
                <c:pt idx="3">
                  <c:v>713989.84</c:v>
                </c:pt>
                <c:pt idx="4">
                  <c:v>13322.02</c:v>
                </c:pt>
                <c:pt idx="5">
                  <c:v>35870.24</c:v>
                </c:pt>
                <c:pt idx="6">
                  <c:v>31928.36</c:v>
                </c:pt>
                <c:pt idx="7">
                  <c:v>-18168.11</c:v>
                </c:pt>
                <c:pt idx="8">
                  <c:v>15636.53</c:v>
                </c:pt>
                <c:pt idx="9">
                  <c:v>5133.83</c:v>
                </c:pt>
                <c:pt idx="10">
                  <c:v>250</c:v>
                </c:pt>
                <c:pt idx="11">
                  <c:v>404702.13</c:v>
                </c:pt>
                <c:pt idx="12">
                  <c:v>37873.4</c:v>
                </c:pt>
                <c:pt idx="13">
                  <c:v>-9222</c:v>
                </c:pt>
                <c:pt idx="14">
                  <c:v>80785.53</c:v>
                </c:pt>
                <c:pt idx="15">
                  <c:v>0</c:v>
                </c:pt>
                <c:pt idx="16">
                  <c:v>143936.48</c:v>
                </c:pt>
                <c:pt idx="17">
                  <c:v>0</c:v>
                </c:pt>
                <c:pt idx="18">
                  <c:v>61657.04</c:v>
                </c:pt>
                <c:pt idx="19">
                  <c:v>552.85</c:v>
                </c:pt>
                <c:pt idx="20">
                  <c:v>47451.59</c:v>
                </c:pt>
                <c:pt idx="21">
                  <c:v>7368.38</c:v>
                </c:pt>
                <c:pt idx="22">
                  <c:v>-1572.04</c:v>
                </c:pt>
                <c:pt idx="23">
                  <c:v>18671.14</c:v>
                </c:pt>
                <c:pt idx="24">
                  <c:v>-1362.23</c:v>
                </c:pt>
                <c:pt idx="25">
                  <c:v>54.55</c:v>
                </c:pt>
                <c:pt idx="26">
                  <c:v>13258.16</c:v>
                </c:pt>
                <c:pt idx="27">
                  <c:v>6124.37</c:v>
                </c:pt>
                <c:pt idx="28">
                  <c:v>634.18</c:v>
                </c:pt>
                <c:pt idx="29">
                  <c:v>4748.54</c:v>
                </c:pt>
                <c:pt idx="30">
                  <c:v>-3326.21</c:v>
                </c:pt>
                <c:pt idx="31">
                  <c:v>-37139.39</c:v>
                </c:pt>
                <c:pt idx="32">
                  <c:v>6231.45</c:v>
                </c:pt>
                <c:pt idx="33">
                  <c:v>-77693.43</c:v>
                </c:pt>
                <c:pt idx="34">
                  <c:v>62.73</c:v>
                </c:pt>
                <c:pt idx="35">
                  <c:v>0</c:v>
                </c:pt>
                <c:pt idx="36">
                  <c:v>138342.64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Legacy System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Sheet1!$A$2:$A$38</c:f>
              <c:multiLvlStrCache>
                <c:ptCount val="37"/>
                <c:lvl>
                  <c:pt idx="0">
                    <c:v>601050</c:v>
                  </c:pt>
                  <c:pt idx="1">
                    <c:v>601051</c:v>
                  </c:pt>
                  <c:pt idx="2">
                    <c:v>601052</c:v>
                  </c:pt>
                  <c:pt idx="3">
                    <c:v>602000</c:v>
                  </c:pt>
                  <c:pt idx="4">
                    <c:v>602004</c:v>
                  </c:pt>
                  <c:pt idx="5">
                    <c:v>602010</c:v>
                  </c:pt>
                  <c:pt idx="6">
                    <c:v>602020</c:v>
                  </c:pt>
                  <c:pt idx="7">
                    <c:v>602030</c:v>
                  </c:pt>
                  <c:pt idx="8">
                    <c:v>602040</c:v>
                  </c:pt>
                  <c:pt idx="9">
                    <c:v>602050</c:v>
                  </c:pt>
                  <c:pt idx="10">
                    <c:v>602060</c:v>
                  </c:pt>
                  <c:pt idx="11">
                    <c:v>602070</c:v>
                  </c:pt>
                  <c:pt idx="12">
                    <c:v>602072</c:v>
                  </c:pt>
                  <c:pt idx="13">
                    <c:v>602080</c:v>
                  </c:pt>
                  <c:pt idx="14">
                    <c:v>603000</c:v>
                  </c:pt>
                  <c:pt idx="15">
                    <c:v>910003</c:v>
                  </c:pt>
                  <c:pt idx="16">
                    <c:v>604040</c:v>
                  </c:pt>
                  <c:pt idx="17">
                    <c:v>910001</c:v>
                  </c:pt>
                  <c:pt idx="18">
                    <c:v>604010</c:v>
                  </c:pt>
                  <c:pt idx="19">
                    <c:v>605000</c:v>
                  </c:pt>
                  <c:pt idx="20">
                    <c:v>605020</c:v>
                  </c:pt>
                  <c:pt idx="21">
                    <c:v>606030</c:v>
                  </c:pt>
                  <c:pt idx="22">
                    <c:v>608010</c:v>
                  </c:pt>
                  <c:pt idx="23">
                    <c:v>608020</c:v>
                  </c:pt>
                  <c:pt idx="24">
                    <c:v>608040</c:v>
                  </c:pt>
                  <c:pt idx="25">
                    <c:v>608000</c:v>
                  </c:pt>
                  <c:pt idx="26">
                    <c:v>609004</c:v>
                  </c:pt>
                  <c:pt idx="27">
                    <c:v>609002</c:v>
                  </c:pt>
                  <c:pt idx="28">
                    <c:v>609003</c:v>
                  </c:pt>
                  <c:pt idx="29">
                    <c:v>609009</c:v>
                  </c:pt>
                  <c:pt idx="30">
                    <c:v>609010</c:v>
                  </c:pt>
                  <c:pt idx="31">
                    <c:v>609012</c:v>
                  </c:pt>
                  <c:pt idx="32">
                    <c:v>610002</c:v>
                  </c:pt>
                  <c:pt idx="33">
                    <c:v>610005</c:v>
                  </c:pt>
                  <c:pt idx="34">
                    <c:v>607000</c:v>
                  </c:pt>
                  <c:pt idx="35">
                    <c:v>910004</c:v>
                  </c:pt>
                  <c:pt idx="36">
                    <c:v>607040</c:v>
                  </c:pt>
                </c:lvl>
              </c:multiLvlStrCache>
            </c:multiLvl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3913952.43</c:v>
                </c:pt>
                <c:pt idx="1">
                  <c:v>4454006.78</c:v>
                </c:pt>
                <c:pt idx="2">
                  <c:v>337728.04</c:v>
                </c:pt>
                <c:pt idx="3">
                  <c:v>713989.84</c:v>
                </c:pt>
                <c:pt idx="4">
                  <c:v>13322.02</c:v>
                </c:pt>
                <c:pt idx="5">
                  <c:v>35870.24</c:v>
                </c:pt>
                <c:pt idx="6">
                  <c:v>31928.36</c:v>
                </c:pt>
                <c:pt idx="7">
                  <c:v>-18168.11</c:v>
                </c:pt>
                <c:pt idx="8">
                  <c:v>15636.53</c:v>
                </c:pt>
                <c:pt idx="9">
                  <c:v>5133.83</c:v>
                </c:pt>
                <c:pt idx="10">
                  <c:v>250</c:v>
                </c:pt>
                <c:pt idx="11">
                  <c:v>404702.13</c:v>
                </c:pt>
                <c:pt idx="12">
                  <c:v>37873.4</c:v>
                </c:pt>
                <c:pt idx="13">
                  <c:v>-9222</c:v>
                </c:pt>
                <c:pt idx="14">
                  <c:v>80785.53</c:v>
                </c:pt>
                <c:pt idx="15">
                  <c:v>0</c:v>
                </c:pt>
                <c:pt idx="16">
                  <c:v>143936.48</c:v>
                </c:pt>
                <c:pt idx="17">
                  <c:v>0</c:v>
                </c:pt>
                <c:pt idx="18">
                  <c:v>61657.04</c:v>
                </c:pt>
                <c:pt idx="19">
                  <c:v>552.85</c:v>
                </c:pt>
                <c:pt idx="20">
                  <c:v>47451.59</c:v>
                </c:pt>
                <c:pt idx="21">
                  <c:v>7368.38</c:v>
                </c:pt>
                <c:pt idx="22">
                  <c:v>-1572.04</c:v>
                </c:pt>
                <c:pt idx="23">
                  <c:v>18671.14</c:v>
                </c:pt>
                <c:pt idx="24">
                  <c:v>-1362.23</c:v>
                </c:pt>
                <c:pt idx="25">
                  <c:v>54.55</c:v>
                </c:pt>
                <c:pt idx="26">
                  <c:v>13258.16</c:v>
                </c:pt>
                <c:pt idx="27">
                  <c:v>6124.37</c:v>
                </c:pt>
                <c:pt idx="28">
                  <c:v>634.18</c:v>
                </c:pt>
                <c:pt idx="29">
                  <c:v>4748.54</c:v>
                </c:pt>
                <c:pt idx="30">
                  <c:v>-3326.21</c:v>
                </c:pt>
                <c:pt idx="31">
                  <c:v>-37139.39</c:v>
                </c:pt>
                <c:pt idx="32">
                  <c:v>6231.45</c:v>
                </c:pt>
                <c:pt idx="33">
                  <c:v>-77693.43</c:v>
                </c:pt>
                <c:pt idx="34">
                  <c:v>62.73</c:v>
                </c:pt>
                <c:pt idx="35">
                  <c:v>0</c:v>
                </c:pt>
                <c:pt idx="36">
                  <c:v>138342.64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4040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Ending Balance (AUD)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 2000 - Opex Reconciliation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System (new) vs Legacy System - Ending Balance, August 2019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11430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All 28 G/L accounts reconcile exactly - total variance = AUD 0.00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Code 3420 - Opex Reconciliation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System (new) vs Legacy System - Ending Balance, August 2019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1143000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All 37 G/L accounts reconcile exactly - total variance = AUD 0.00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2026-09-15T09:44:48Z</dcterms:created>
  <dcterms:modified xsi:type="dcterms:W3CDTF">2026-09-15T09:44:48Z</dcterms:modified>
</cp:coreProperties>
</file>